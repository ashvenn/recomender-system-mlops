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4023360" cy="4023360"/>
          </a:xfrm>
          <a:prstGeom prst="ellipse">
            <a:avLst/>
          </a:prstGeom>
          <a:solidFill>
            <a:srgbClr val="1E2260"/>
          </a:solidFill>
        </p:spPr>
      </p:sp>
      <p:sp>
        <p:nvSpPr>
          <p:cNvPr id="3" name="Shape 1"/>
          <p:cNvSpPr/>
          <p:nvPr/>
        </p:nvSpPr>
        <p:spPr>
          <a:xfrm>
            <a:off x="10698480" y="-182880"/>
            <a:ext cx="1920240" cy="1920240"/>
          </a:xfrm>
          <a:prstGeom prst="ellipse">
            <a:avLst/>
          </a:prstGeom>
          <a:solidFill>
            <a:srgbClr val="3B4590"/>
          </a:solidFill>
        </p:spPr>
      </p:sp>
      <p:sp>
        <p:nvSpPr>
          <p:cNvPr id="4" name="Shape 2"/>
          <p:cNvSpPr/>
          <p:nvPr/>
        </p:nvSpPr>
        <p:spPr>
          <a:xfrm>
            <a:off x="-1280160" y="4846320"/>
            <a:ext cx="3108960" cy="3108960"/>
          </a:xfrm>
          <a:prstGeom prst="ellipse">
            <a:avLst/>
          </a:prstGeom>
          <a:solidFill>
            <a:srgbClr val="1E2260"/>
          </a:solidFill>
        </p:spPr>
      </p:sp>
      <p:sp>
        <p:nvSpPr>
          <p:cNvPr id="5" name="Text 3"/>
          <p:cNvSpPr/>
          <p:nvPr/>
        </p:nvSpPr>
        <p:spPr>
          <a:xfrm>
            <a:off x="822960" y="105156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3B2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MASTER D'EXCELLENCE — INTELLIGENCE ARTIFICIELLE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508760"/>
            <a:ext cx="960120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MLOps &amp; DataOps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9601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CFD6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Système de recommandation de films — MovieLens Recommender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22960" y="3200400"/>
            <a:ext cx="8686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A6E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Filtrage collaboratif item-based KNN, du pipeline de données à la mise en production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3977640"/>
            <a:ext cx="457200" cy="54864"/>
          </a:xfrm>
          <a:prstGeom prst="rect">
            <a:avLst/>
          </a:prstGeom>
          <a:solidFill>
            <a:srgbClr val="E3B23C"/>
          </a:solidFill>
        </p:spPr>
      </p:sp>
      <p:sp>
        <p:nvSpPr>
          <p:cNvPr id="10" name="Text 8"/>
          <p:cNvSpPr/>
          <p:nvPr/>
        </p:nvSpPr>
        <p:spPr>
          <a:xfrm>
            <a:off x="822960" y="4251960"/>
            <a:ext cx="2103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3B2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Product Owner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017520" y="4251960"/>
            <a:ext cx="6858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FD6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Hamza RBIB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22960" y="4581144"/>
            <a:ext cx="2103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3B2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Scrum Master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017520" y="4581144"/>
            <a:ext cx="6858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FD6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Imrane TAYA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22960" y="4910328"/>
            <a:ext cx="2103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3B2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Engineers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017520" y="4910328"/>
            <a:ext cx="6858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FD6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Abderrahmane HASSANI · Hajar EL KHALIDI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22960" y="5239512"/>
            <a:ext cx="2103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3B2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ML Engineers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017520" y="5239512"/>
            <a:ext cx="6858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FD6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Youness ZOUHAIRI · Douaa BOUNADAR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22960" y="5568696"/>
            <a:ext cx="2103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3B2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Analysts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017520" y="5568696"/>
            <a:ext cx="6858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FD6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Abdelkarim MOUSSAOUI · Nohaila ICHOU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22960" y="6263640"/>
            <a:ext cx="8686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A6E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Encadré par Prof. Mohammed AITDAOUD  ·  Année universitaire 2025–2026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3B2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CONTEXTE DU PROJET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91B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Une plateforme de recommandation industrialisée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6035040" cy="1554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91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Conçu et déployé dans le cadre du Master DSBD &amp; IA, ce projet couvre l'intégralité d'un cycle DataOps/MLOps : de l'ingestion des données brutes jusqu'à l'exposition d'une API de prédiction en production, avec monitoring intégré.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3246120"/>
            <a:ext cx="6035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Contrainte de déploiement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3611880"/>
            <a:ext cx="603504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A6E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Entièrement conteneurisé via Docker Compose — aucune dépendance cloud externe. Une seule commande, docker compose up --build, lance l'intégralité des services.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4709160"/>
            <a:ext cx="6035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Algorithme retenu : KNN item-based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5074920"/>
            <a:ext cx="603504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A6E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Similarité cosinus entre vecteurs de ratings des films. Chaque recommandation est traçable à un film déjà aimé par l'utilisateur — pas de boîte noire, idéal pour une soutenance.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666865" y="1725295"/>
            <a:ext cx="1480820" cy="1605280"/>
          </a:xfrm>
          <a:prstGeom prst="roundRect">
            <a:avLst>
              <a:gd name="adj" fmla="val 5263"/>
            </a:avLst>
          </a:prstGeom>
          <a:solidFill>
            <a:srgbClr val="14163B"/>
          </a:solidFill>
          <a:effectLst>
            <a:outerShdw blurRad="76200" dist="25400" dir="5400000" algn="bl" rotWithShape="0">
              <a:srgbClr val="1A1A2E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651625" y="1912620"/>
            <a:ext cx="1480820" cy="5918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3B2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100 000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742430" y="2552700"/>
            <a:ext cx="1336040" cy="5918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FD6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évaluations (1 à 5)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615045" y="1722120"/>
            <a:ext cx="1480820" cy="1605280"/>
          </a:xfrm>
          <a:prstGeom prst="roundRect">
            <a:avLst>
              <a:gd name="adj" fmla="val 5263"/>
            </a:avLst>
          </a:prstGeom>
          <a:solidFill>
            <a:srgbClr val="14163B"/>
          </a:solidFill>
          <a:effectLst>
            <a:outerShdw blurRad="76200" dist="25400" dir="5400000" algn="bl" rotWithShape="0">
              <a:srgbClr val="1A1A2E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615045" y="1912620"/>
            <a:ext cx="1480820" cy="5918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3B2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943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8668385" y="2552700"/>
            <a:ext cx="1336040" cy="5918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FD6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utilisateurs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0525125" y="1725930"/>
            <a:ext cx="1480820" cy="1605280"/>
          </a:xfrm>
          <a:prstGeom prst="roundRect">
            <a:avLst>
              <a:gd name="adj" fmla="val 5263"/>
            </a:avLst>
          </a:prstGeom>
          <a:solidFill>
            <a:srgbClr val="14163B"/>
          </a:solidFill>
          <a:effectLst>
            <a:outerShdw blurRad="76200" dist="25400" dir="5400000" algn="bl" rotWithShape="0">
              <a:srgbClr val="1A1A2E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525125" y="1916430"/>
            <a:ext cx="1480820" cy="5918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3B2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1 682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0578465" y="2556510"/>
            <a:ext cx="1336040" cy="5918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FD6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films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949440" y="3611880"/>
            <a:ext cx="44348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23760" y="3794760"/>
            <a:ext cx="3931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Jeu de données — MovieLens 100K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223760" y="4251960"/>
            <a:ext cx="3931920" cy="1783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91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Notes sur une échelle de 1 à 5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91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Métadonnées : genres, titres, années de sortie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91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Fallback synthétique si le dataset n'est pas téléchargeable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91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Utilisé pour enrichir les résultats de recommandation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A6E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3B2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ARCHITECTURE TECHNIQUE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91B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Un pipeline linéaire et reproductible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755648" cy="1051560"/>
          </a:xfrm>
          <a:prstGeom prst="roundRect">
            <a:avLst>
              <a:gd name="adj" fmla="val 6957"/>
            </a:avLst>
          </a:prstGeom>
          <a:solidFill>
            <a:srgbClr val="1E2260"/>
          </a:solidFill>
        </p:spPr>
      </p:sp>
      <p:sp>
        <p:nvSpPr>
          <p:cNvPr id="5" name="Text 3"/>
          <p:cNvSpPr/>
          <p:nvPr/>
        </p:nvSpPr>
        <p:spPr>
          <a:xfrm>
            <a:off x="621792" y="1828800"/>
            <a:ext cx="1609344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dlt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21792" y="2313432"/>
            <a:ext cx="1609344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7E9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Ingestion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304288" y="2034540"/>
            <a:ext cx="12344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A6E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427732" y="1691640"/>
            <a:ext cx="1755648" cy="1051560"/>
          </a:xfrm>
          <a:prstGeom prst="roundRect">
            <a:avLst>
              <a:gd name="adj" fmla="val 6957"/>
            </a:avLst>
          </a:prstGeom>
          <a:solidFill>
            <a:srgbClr val="1E2260"/>
          </a:solidFill>
        </p:spPr>
      </p:sp>
      <p:sp>
        <p:nvSpPr>
          <p:cNvPr id="9" name="Text 7"/>
          <p:cNvSpPr/>
          <p:nvPr/>
        </p:nvSpPr>
        <p:spPr>
          <a:xfrm>
            <a:off x="2500884" y="1828800"/>
            <a:ext cx="1609344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DuckDB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500884" y="2313432"/>
            <a:ext cx="1609344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7E9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Stockage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83380" y="2034540"/>
            <a:ext cx="12344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A6E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06824" y="1691640"/>
            <a:ext cx="1755648" cy="1051560"/>
          </a:xfrm>
          <a:prstGeom prst="roundRect">
            <a:avLst>
              <a:gd name="adj" fmla="val 6957"/>
            </a:avLst>
          </a:prstGeom>
          <a:solidFill>
            <a:srgbClr val="1E2260"/>
          </a:solidFill>
        </p:spPr>
      </p:sp>
      <p:sp>
        <p:nvSpPr>
          <p:cNvPr id="13" name="Text 11"/>
          <p:cNvSpPr/>
          <p:nvPr/>
        </p:nvSpPr>
        <p:spPr>
          <a:xfrm>
            <a:off x="4379976" y="1828800"/>
            <a:ext cx="1609344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dbt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379976" y="2313432"/>
            <a:ext cx="1609344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7E9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Transformation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062472" y="2034540"/>
            <a:ext cx="12344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A6E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85916" y="1691640"/>
            <a:ext cx="1755648" cy="1051560"/>
          </a:xfrm>
          <a:prstGeom prst="roundRect">
            <a:avLst>
              <a:gd name="adj" fmla="val 6957"/>
            </a:avLst>
          </a:prstGeom>
          <a:solidFill>
            <a:srgbClr val="1E2260"/>
          </a:solidFill>
        </p:spPr>
      </p:sp>
      <p:sp>
        <p:nvSpPr>
          <p:cNvPr id="17" name="Text 15"/>
          <p:cNvSpPr/>
          <p:nvPr/>
        </p:nvSpPr>
        <p:spPr>
          <a:xfrm>
            <a:off x="6259068" y="1828800"/>
            <a:ext cx="1609344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Dagster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59068" y="2313432"/>
            <a:ext cx="1609344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7E9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Orchestration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941564" y="2034540"/>
            <a:ext cx="12344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A6E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065008" y="1691640"/>
            <a:ext cx="1755648" cy="1051560"/>
          </a:xfrm>
          <a:prstGeom prst="roundRect">
            <a:avLst>
              <a:gd name="adj" fmla="val 6957"/>
            </a:avLst>
          </a:prstGeom>
          <a:solidFill>
            <a:srgbClr val="3B4590"/>
          </a:solidFill>
        </p:spPr>
      </p:sp>
      <p:sp>
        <p:nvSpPr>
          <p:cNvPr id="21" name="Text 19"/>
          <p:cNvSpPr/>
          <p:nvPr/>
        </p:nvSpPr>
        <p:spPr>
          <a:xfrm>
            <a:off x="8138160" y="1828800"/>
            <a:ext cx="1609344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Scikit-Learn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138160" y="2313432"/>
            <a:ext cx="1609344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7E9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Entraînement KNN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9820656" y="2034540"/>
            <a:ext cx="12344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A6E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944100" y="1691640"/>
            <a:ext cx="1755648" cy="1051560"/>
          </a:xfrm>
          <a:prstGeom prst="roundRect">
            <a:avLst>
              <a:gd name="adj" fmla="val 6957"/>
            </a:avLst>
          </a:prstGeom>
          <a:solidFill>
            <a:srgbClr val="3B4590"/>
          </a:solidFill>
        </p:spPr>
      </p:sp>
      <p:sp>
        <p:nvSpPr>
          <p:cNvPr id="25" name="Text 23"/>
          <p:cNvSpPr/>
          <p:nvPr/>
        </p:nvSpPr>
        <p:spPr>
          <a:xfrm>
            <a:off x="10017252" y="1828800"/>
            <a:ext cx="1609344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MLflow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017252" y="2313432"/>
            <a:ext cx="1609344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7E9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Tracking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48640" y="3063240"/>
            <a:ext cx="1755648" cy="1051560"/>
          </a:xfrm>
          <a:prstGeom prst="roundRect">
            <a:avLst>
              <a:gd name="adj" fmla="val 6957"/>
            </a:avLst>
          </a:prstGeom>
          <a:solidFill>
            <a:srgbClr val="3B4590"/>
          </a:solidFill>
        </p:spPr>
      </p:sp>
      <p:sp>
        <p:nvSpPr>
          <p:cNvPr id="28" name="Text 26"/>
          <p:cNvSpPr/>
          <p:nvPr/>
        </p:nvSpPr>
        <p:spPr>
          <a:xfrm>
            <a:off x="621792" y="3200400"/>
            <a:ext cx="1609344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DVC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21792" y="3685032"/>
            <a:ext cx="1609344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7E9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Versioning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304288" y="3406140"/>
            <a:ext cx="12344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A6E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2427732" y="3063240"/>
            <a:ext cx="1755648" cy="1051560"/>
          </a:xfrm>
          <a:prstGeom prst="roundRect">
            <a:avLst>
              <a:gd name="adj" fmla="val 6957"/>
            </a:avLst>
          </a:prstGeom>
          <a:solidFill>
            <a:srgbClr val="6C4FA0"/>
          </a:solidFill>
        </p:spPr>
      </p:sp>
      <p:sp>
        <p:nvSpPr>
          <p:cNvPr id="32" name="Text 30"/>
          <p:cNvSpPr/>
          <p:nvPr/>
        </p:nvSpPr>
        <p:spPr>
          <a:xfrm>
            <a:off x="2500884" y="3200400"/>
            <a:ext cx="1609344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Flask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2500884" y="3685032"/>
            <a:ext cx="1609344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7E9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API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183380" y="3406140"/>
            <a:ext cx="12344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A6E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4306824" y="3063240"/>
            <a:ext cx="1755648" cy="1051560"/>
          </a:xfrm>
          <a:prstGeom prst="roundRect">
            <a:avLst>
              <a:gd name="adj" fmla="val 6957"/>
            </a:avLst>
          </a:prstGeom>
          <a:solidFill>
            <a:srgbClr val="6C4FA0"/>
          </a:solidFill>
        </p:spPr>
      </p:sp>
      <p:sp>
        <p:nvSpPr>
          <p:cNvPr id="36" name="Text 34"/>
          <p:cNvSpPr/>
          <p:nvPr/>
        </p:nvSpPr>
        <p:spPr>
          <a:xfrm>
            <a:off x="4379976" y="3200400"/>
            <a:ext cx="1609344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Streamlit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379976" y="3685032"/>
            <a:ext cx="1609344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7E9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UI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062472" y="3406140"/>
            <a:ext cx="12344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A6E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6185916" y="3063240"/>
            <a:ext cx="1755648" cy="1051560"/>
          </a:xfrm>
          <a:prstGeom prst="roundRect">
            <a:avLst>
              <a:gd name="adj" fmla="val 6957"/>
            </a:avLst>
          </a:prstGeom>
          <a:solidFill>
            <a:srgbClr val="8A6D1E"/>
          </a:solidFill>
        </p:spPr>
      </p:sp>
      <p:sp>
        <p:nvSpPr>
          <p:cNvPr id="40" name="Text 38"/>
          <p:cNvSpPr/>
          <p:nvPr/>
        </p:nvSpPr>
        <p:spPr>
          <a:xfrm>
            <a:off x="6259068" y="3200400"/>
            <a:ext cx="1609344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Docker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259068" y="3685032"/>
            <a:ext cx="1609344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7E9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Conteneurs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7941564" y="3406140"/>
            <a:ext cx="12344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A6E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8065008" y="3063240"/>
            <a:ext cx="1755648" cy="1051560"/>
          </a:xfrm>
          <a:prstGeom prst="roundRect">
            <a:avLst>
              <a:gd name="adj" fmla="val 6957"/>
            </a:avLst>
          </a:prstGeom>
          <a:solidFill>
            <a:srgbClr val="8A6D1E"/>
          </a:solidFill>
        </p:spPr>
      </p:sp>
      <p:sp>
        <p:nvSpPr>
          <p:cNvPr id="44" name="Text 42"/>
          <p:cNvSpPr/>
          <p:nvPr/>
        </p:nvSpPr>
        <p:spPr>
          <a:xfrm>
            <a:off x="8138160" y="3200400"/>
            <a:ext cx="1609344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GitHub Actions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8138160" y="3685032"/>
            <a:ext cx="1609344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7E9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CI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9820656" y="3406140"/>
            <a:ext cx="12344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A6E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9944100" y="3063240"/>
            <a:ext cx="1755648" cy="1051560"/>
          </a:xfrm>
          <a:prstGeom prst="roundRect">
            <a:avLst>
              <a:gd name="adj" fmla="val 6957"/>
            </a:avLst>
          </a:prstGeom>
          <a:solidFill>
            <a:srgbClr val="8A6D1E"/>
          </a:solidFill>
        </p:spPr>
      </p:sp>
      <p:sp>
        <p:nvSpPr>
          <p:cNvPr id="48" name="Text 46"/>
          <p:cNvSpPr/>
          <p:nvPr/>
        </p:nvSpPr>
        <p:spPr>
          <a:xfrm>
            <a:off x="10017252" y="3200400"/>
            <a:ext cx="1609344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Prometheus/Grafana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10017252" y="3685032"/>
            <a:ext cx="1609344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7E9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Monitoring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548640" y="4572000"/>
            <a:ext cx="201168" cy="201168"/>
          </a:xfrm>
          <a:prstGeom prst="rect">
            <a:avLst/>
          </a:prstGeom>
          <a:solidFill>
            <a:srgbClr val="1E2260"/>
          </a:solidFill>
        </p:spPr>
      </p:sp>
      <p:sp>
        <p:nvSpPr>
          <p:cNvPr id="51" name="Text 49"/>
          <p:cNvSpPr/>
          <p:nvPr/>
        </p:nvSpPr>
        <p:spPr>
          <a:xfrm>
            <a:off x="822960" y="4526280"/>
            <a:ext cx="14630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91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DataOps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2468880" y="4572000"/>
            <a:ext cx="201168" cy="201168"/>
          </a:xfrm>
          <a:prstGeom prst="rect">
            <a:avLst/>
          </a:prstGeom>
          <a:solidFill>
            <a:srgbClr val="3B4590"/>
          </a:solidFill>
        </p:spPr>
      </p:sp>
      <p:sp>
        <p:nvSpPr>
          <p:cNvPr id="53" name="Text 51"/>
          <p:cNvSpPr/>
          <p:nvPr/>
        </p:nvSpPr>
        <p:spPr>
          <a:xfrm>
            <a:off x="2743200" y="4526280"/>
            <a:ext cx="14630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91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MLOps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4389120" y="4572000"/>
            <a:ext cx="201168" cy="201168"/>
          </a:xfrm>
          <a:prstGeom prst="rect">
            <a:avLst/>
          </a:prstGeom>
          <a:solidFill>
            <a:srgbClr val="6C4FA0"/>
          </a:solidFill>
        </p:spPr>
      </p:sp>
      <p:sp>
        <p:nvSpPr>
          <p:cNvPr id="55" name="Text 53"/>
          <p:cNvSpPr/>
          <p:nvPr/>
        </p:nvSpPr>
        <p:spPr>
          <a:xfrm>
            <a:off x="4663440" y="4526280"/>
            <a:ext cx="14630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91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Service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6309360" y="4572000"/>
            <a:ext cx="201168" cy="201168"/>
          </a:xfrm>
          <a:prstGeom prst="rect">
            <a:avLst/>
          </a:prstGeom>
          <a:solidFill>
            <a:srgbClr val="B8871F"/>
          </a:solidFill>
        </p:spPr>
      </p:sp>
      <p:sp>
        <p:nvSpPr>
          <p:cNvPr id="57" name="Text 55"/>
          <p:cNvSpPr/>
          <p:nvPr/>
        </p:nvSpPr>
        <p:spPr>
          <a:xfrm>
            <a:off x="6583680" y="4526280"/>
            <a:ext cx="14630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91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Infrastructure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548640" y="5074920"/>
            <a:ext cx="10515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6A6E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« Chaque brique est volontairement la plus simple possible — KNN plutôt qu'un modèle profond, dataset 100K, API à 2 routes — pour rester rapide à exécuter et facile à expliquer en soutenance. »</a:t>
            </a:r>
            <a:endParaRPr lang="en-US" sz="1250" dirty="0"/>
          </a:p>
        </p:txBody>
      </p:sp>
      <p:sp>
        <p:nvSpPr>
          <p:cNvPr id="59" name="Text 57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A6E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3B2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GESTION DE PROJET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91B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Méthodologie Agile Scrum — 3 sprints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429000" cy="288036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01368"/>
            <a:ext cx="2971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3B2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Sprint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2103120"/>
            <a:ext cx="29718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91B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DataOps &amp; préparation des données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77240" y="2880360"/>
            <a:ext cx="2971800" cy="1463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27000" indent="-1270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91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Ingestion dlt</a:t>
            </a:r>
            <a:endParaRPr lang="en-US" sz="1100" dirty="0"/>
          </a:p>
          <a:p>
            <a:pPr marL="127000" indent="-1270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91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Stockage DuckDB</a:t>
            </a:r>
            <a:endParaRPr lang="en-US" sz="1100" dirty="0"/>
          </a:p>
          <a:p>
            <a:pPr marL="127000" indent="-1270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91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Transformation dbt</a:t>
            </a:r>
            <a:endParaRPr lang="en-US" sz="1100" dirty="0"/>
          </a:p>
          <a:p>
            <a:pPr marL="127000" indent="-1270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91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Tests de qualité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60520" y="1600200"/>
            <a:ext cx="3429000" cy="2880360"/>
          </a:xfrm>
          <a:prstGeom prst="roundRect">
            <a:avLst>
              <a:gd name="adj" fmla="val 3175"/>
            </a:avLst>
          </a:prstGeom>
          <a:solidFill>
            <a:srgbClr val="14163B"/>
          </a:solidFill>
          <a:ln w="12700">
            <a:solidFill>
              <a:srgbClr val="1416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0" y="1801368"/>
            <a:ext cx="2971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3B2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Sprint 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389120" y="2103120"/>
            <a:ext cx="29718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Modèle de recommandation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4389120" y="2880360"/>
            <a:ext cx="2971800" cy="1463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27000" indent="-1270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CFD6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Entraînement KNN (k=10)</a:t>
            </a:r>
            <a:endParaRPr lang="en-US" sz="1100" dirty="0"/>
          </a:p>
          <a:p>
            <a:pPr marL="127000" indent="-1270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CFD6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Évaluation RMSE / MAE / Precision@10</a:t>
            </a:r>
            <a:endParaRPr lang="en-US" sz="1100" dirty="0"/>
          </a:p>
          <a:p>
            <a:pPr marL="127000" indent="-1270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CFD6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Suivi MLflow</a:t>
            </a:r>
            <a:endParaRPr lang="en-US" sz="1100" dirty="0"/>
          </a:p>
          <a:p>
            <a:pPr marL="127000" indent="-1270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CFD6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Versioning DVC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772400" y="1600200"/>
            <a:ext cx="3429000" cy="288036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01000" y="1801368"/>
            <a:ext cx="2971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3B2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Sprint 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001000" y="2103120"/>
            <a:ext cx="29718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91B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Déploiement &amp; monitoring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001000" y="2880360"/>
            <a:ext cx="2971800" cy="1463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27000" indent="-1270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91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API Flask</a:t>
            </a:r>
            <a:endParaRPr lang="en-US" sz="1100" dirty="0"/>
          </a:p>
          <a:p>
            <a:pPr marL="127000" indent="-1270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91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Interface Streamlit</a:t>
            </a:r>
            <a:endParaRPr lang="en-US" sz="1100" dirty="0"/>
          </a:p>
          <a:p>
            <a:pPr marL="127000" indent="-1270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91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Docker Compose + CI/CD</a:t>
            </a:r>
            <a:endParaRPr lang="en-US" sz="1100" dirty="0"/>
          </a:p>
          <a:p>
            <a:pPr marL="127000" indent="-1270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91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Prometheus + Grafana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475488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Composition de l'équipe — 4 rôles complémentaires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5166360"/>
            <a:ext cx="32918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45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Product Owner / Scrum Master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931920" y="5166360"/>
            <a:ext cx="69494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A6E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Hamza RBIB · Imrane TAYA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5486400"/>
            <a:ext cx="32918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45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Engineers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931920" y="5486400"/>
            <a:ext cx="69494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A6E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Abderrahmane HASSANI · Hajar EL KHALIDI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5806440"/>
            <a:ext cx="32918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45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ML Engineers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931920" y="5806440"/>
            <a:ext cx="69494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A6E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Youness ZOUHAIRI · Douaa BOUNADAR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6126480"/>
            <a:ext cx="32918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45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Analysts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931920" y="6126480"/>
            <a:ext cx="69494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A6E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Abdelkarim MOUSSAOUI · Nohaila ICHOU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A6E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3B2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COUCHE DATAOPS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91B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De l'ingestion brute aux modèles analytiques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12064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28800"/>
            <a:ext cx="384048" cy="384048"/>
          </a:xfrm>
          <a:prstGeom prst="ellipse">
            <a:avLst/>
          </a:prstGeom>
          <a:solidFill>
            <a:srgbClr val="1E2260"/>
          </a:solidFill>
        </p:spPr>
      </p:sp>
      <p:sp>
        <p:nvSpPr>
          <p:cNvPr id="6" name="Text 4"/>
          <p:cNvSpPr/>
          <p:nvPr/>
        </p:nvSpPr>
        <p:spPr>
          <a:xfrm>
            <a:off x="777240" y="1828800"/>
            <a:ext cx="3840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3B2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25880" y="1819656"/>
            <a:ext cx="4114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dlt — Ingestion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77240" y="2377440"/>
            <a:ext cx="4663440" cy="11887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91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Charge les fichiers bruts MovieLens 100K vers DuckDB : inférence de schéma, gestion des états de chargement, traçabilité automatique.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943600" y="1600200"/>
            <a:ext cx="512064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72200" y="1828800"/>
            <a:ext cx="384048" cy="384048"/>
          </a:xfrm>
          <a:prstGeom prst="ellipse">
            <a:avLst/>
          </a:prstGeom>
          <a:solidFill>
            <a:srgbClr val="1E2260"/>
          </a:solidFill>
        </p:spPr>
      </p:sp>
      <p:sp>
        <p:nvSpPr>
          <p:cNvPr id="11" name="Text 9"/>
          <p:cNvSpPr/>
          <p:nvPr/>
        </p:nvSpPr>
        <p:spPr>
          <a:xfrm>
            <a:off x="6172200" y="1828800"/>
            <a:ext cx="3840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3B2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720840" y="1819656"/>
            <a:ext cx="4114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DuckDB — Stockage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172200" y="2377440"/>
            <a:ext cx="4663440" cy="11887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91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Base analytique embarquée en 3 schémas : raw (tables brutes), staging (vues), marts (dim_movies, dim_users, fact_ratings).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512064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251960"/>
            <a:ext cx="384048" cy="384048"/>
          </a:xfrm>
          <a:prstGeom prst="ellipse">
            <a:avLst/>
          </a:prstGeom>
          <a:solidFill>
            <a:srgbClr val="1E2260"/>
          </a:solidFill>
        </p:spPr>
      </p:sp>
      <p:sp>
        <p:nvSpPr>
          <p:cNvPr id="16" name="Text 14"/>
          <p:cNvSpPr/>
          <p:nvPr/>
        </p:nvSpPr>
        <p:spPr>
          <a:xfrm>
            <a:off x="777240" y="4251960"/>
            <a:ext cx="3840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3B2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25880" y="4242816"/>
            <a:ext cx="4114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dbt — Transformation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777240" y="4800600"/>
            <a:ext cx="4663440" cy="11887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91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Modèles staging + marts, avec 43 tests dbt (unicité, valeurs nulles, contraintes métier) exécutés via dbt build.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943600" y="4023360"/>
            <a:ext cx="512064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72200" y="4251960"/>
            <a:ext cx="384048" cy="384048"/>
          </a:xfrm>
          <a:prstGeom prst="ellipse">
            <a:avLst/>
          </a:prstGeom>
          <a:solidFill>
            <a:srgbClr val="1E2260"/>
          </a:solidFill>
        </p:spPr>
      </p:sp>
      <p:sp>
        <p:nvSpPr>
          <p:cNvPr id="21" name="Text 19"/>
          <p:cNvSpPr/>
          <p:nvPr/>
        </p:nvSpPr>
        <p:spPr>
          <a:xfrm>
            <a:off x="6172200" y="4251960"/>
            <a:ext cx="3840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3B2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720840" y="4242816"/>
            <a:ext cx="4114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Dagster — Orchestration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172200" y="4800600"/>
            <a:ext cx="4663440" cy="11887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91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Orchestre ingestion + transformation + entraînement sous forme d'assets matérialisables, avec Asset Checks qualité.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A6E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3B2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COUCHE MLOPS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KNN item-based, tracé et versionné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6035040" cy="1554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D6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Filtrage collaboratif : chaque film est représenté par son vecteur de notes. Pour un utilisateur, on identifie ses films les mieux notés (≥ 4/5), puis on propose leurs voisins les plus proches par similarité cosinus — en excluant les films déjà vus.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3B23C"/>
          </a:solidFill>
        </p:spPr>
      </p:sp>
      <p:sp>
        <p:nvSpPr>
          <p:cNvPr id="6" name="Text 4"/>
          <p:cNvSpPr/>
          <p:nvPr/>
        </p:nvSpPr>
        <p:spPr>
          <a:xfrm>
            <a:off x="822960" y="2953512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sklearn.neighbors.NearestNeighbors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344728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3B23C"/>
          </a:solidFill>
        </p:spPr>
      </p:sp>
      <p:sp>
        <p:nvSpPr>
          <p:cNvPr id="8" name="Text 6"/>
          <p:cNvSpPr/>
          <p:nvPr/>
        </p:nvSpPr>
        <p:spPr>
          <a:xfrm>
            <a:off x="822960" y="3337560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similarité cosinus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8313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3B23C"/>
          </a:solidFill>
        </p:spPr>
      </p:sp>
      <p:sp>
        <p:nvSpPr>
          <p:cNvPr id="10" name="Text 8"/>
          <p:cNvSpPr/>
          <p:nvPr/>
        </p:nvSpPr>
        <p:spPr>
          <a:xfrm>
            <a:off x="822960" y="3721608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 = 10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4215384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3B23C"/>
          </a:solidFill>
        </p:spPr>
      </p:sp>
      <p:sp>
        <p:nvSpPr>
          <p:cNvPr id="12" name="Text 10"/>
          <p:cNvSpPr/>
          <p:nvPr/>
        </p:nvSpPr>
        <p:spPr>
          <a:xfrm>
            <a:off x="822960" y="4105656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aucune boîte noire — traçable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4709160"/>
            <a:ext cx="6035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3B2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MLflow — Tracking des expériences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5074920"/>
            <a:ext cx="60350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FD6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Centralise versioning des modèles, métriques et artefacts. Modèle enregistré : movielens-recommender (v1). Tracking SQLite : sqlite:////mlflow/data/mlflow.db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949440" y="1554480"/>
            <a:ext cx="4434840" cy="4663440"/>
          </a:xfrm>
          <a:prstGeom prst="roundRect">
            <a:avLst>
              <a:gd name="adj" fmla="val 2062"/>
            </a:avLst>
          </a:prstGeom>
          <a:solidFill>
            <a:srgbClr val="1E2260"/>
          </a:solidFill>
        </p:spPr>
      </p:sp>
      <p:sp>
        <p:nvSpPr>
          <p:cNvPr id="16" name="Text 14"/>
          <p:cNvSpPr/>
          <p:nvPr/>
        </p:nvSpPr>
        <p:spPr>
          <a:xfrm>
            <a:off x="7223760" y="1783080"/>
            <a:ext cx="3931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3B2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DVC — Pipeline reproductible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223760" y="2331720"/>
            <a:ext cx="3886200" cy="914400"/>
          </a:xfrm>
          <a:prstGeom prst="roundRect">
            <a:avLst>
              <a:gd name="adj" fmla="val 8000"/>
            </a:avLst>
          </a:prstGeom>
          <a:solidFill>
            <a:srgbClr val="14163B"/>
          </a:solidFill>
        </p:spPr>
      </p:sp>
      <p:sp>
        <p:nvSpPr>
          <p:cNvPr id="18" name="Text 16"/>
          <p:cNvSpPr/>
          <p:nvPr/>
        </p:nvSpPr>
        <p:spPr>
          <a:xfrm>
            <a:off x="7406640" y="2404872"/>
            <a:ext cx="3566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3B2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ingest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406640" y="2679192"/>
            <a:ext cx="35661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dlt_pipeline/pipeline.py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406640" y="2935224"/>
            <a:ext cx="35661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FD6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movielens.duckdb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223760" y="3383280"/>
            <a:ext cx="3886200" cy="914400"/>
          </a:xfrm>
          <a:prstGeom prst="roundRect">
            <a:avLst>
              <a:gd name="adj" fmla="val 8000"/>
            </a:avLst>
          </a:prstGeom>
          <a:solidFill>
            <a:srgbClr val="14163B"/>
          </a:solidFill>
        </p:spPr>
      </p:sp>
      <p:sp>
        <p:nvSpPr>
          <p:cNvPr id="22" name="Text 20"/>
          <p:cNvSpPr/>
          <p:nvPr/>
        </p:nvSpPr>
        <p:spPr>
          <a:xfrm>
            <a:off x="7406640" y="3456432"/>
            <a:ext cx="3566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3B2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transform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406640" y="3730752"/>
            <a:ext cx="35661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dbt build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406640" y="3986784"/>
            <a:ext cx="35661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FD6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schémas staging/marts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223760" y="4434840"/>
            <a:ext cx="3886200" cy="914400"/>
          </a:xfrm>
          <a:prstGeom prst="roundRect">
            <a:avLst>
              <a:gd name="adj" fmla="val 8000"/>
            </a:avLst>
          </a:prstGeom>
          <a:solidFill>
            <a:srgbClr val="14163B"/>
          </a:solidFill>
        </p:spPr>
      </p:sp>
      <p:sp>
        <p:nvSpPr>
          <p:cNvPr id="26" name="Text 24"/>
          <p:cNvSpPr/>
          <p:nvPr/>
        </p:nvSpPr>
        <p:spPr>
          <a:xfrm>
            <a:off x="7406640" y="4507992"/>
            <a:ext cx="3566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3B2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406640" y="4782312"/>
            <a:ext cx="35661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ml/src/train.py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406640" y="5038344"/>
            <a:ext cx="35661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FD6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knn_model.joblib, metrics.json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223760" y="5532120"/>
            <a:ext cx="3886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CFD6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dvc.lock capture l'état exact (hash des dépendances, paramètres) de la dernière exécution réussie.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A6E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3B2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COUCHE SERVICE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91B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Un seul point d'inférence, deux façons d'y accéder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83080"/>
            <a:ext cx="4937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16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API Flask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22960" y="2331720"/>
            <a:ext cx="777240" cy="329184"/>
          </a:xfrm>
          <a:prstGeom prst="roundRect">
            <a:avLst>
              <a:gd name="adj" fmla="val 16667"/>
            </a:avLst>
          </a:prstGeom>
          <a:solidFill>
            <a:srgbClr val="1F7A5C"/>
          </a:solidFill>
        </p:spPr>
      </p:sp>
      <p:sp>
        <p:nvSpPr>
          <p:cNvPr id="7" name="Text 5"/>
          <p:cNvSpPr/>
          <p:nvPr/>
        </p:nvSpPr>
        <p:spPr>
          <a:xfrm>
            <a:off x="822960" y="2331720"/>
            <a:ext cx="77724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737360" y="2331720"/>
            <a:ext cx="155448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63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/health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37560" y="2331720"/>
            <a:ext cx="25146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6E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Vérifie la disponibilité et l'état du modèle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22960" y="2788920"/>
            <a:ext cx="777240" cy="329184"/>
          </a:xfrm>
          <a:prstGeom prst="roundRect">
            <a:avLst>
              <a:gd name="adj" fmla="val 16667"/>
            </a:avLst>
          </a:prstGeom>
          <a:solidFill>
            <a:srgbClr val="6C4FA0"/>
          </a:solidFill>
        </p:spPr>
      </p:sp>
      <p:sp>
        <p:nvSpPr>
          <p:cNvPr id="11" name="Text 9"/>
          <p:cNvSpPr/>
          <p:nvPr/>
        </p:nvSpPr>
        <p:spPr>
          <a:xfrm>
            <a:off x="822960" y="2788920"/>
            <a:ext cx="77724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737360" y="2788920"/>
            <a:ext cx="155448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63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/predict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37560" y="2788920"/>
            <a:ext cx="25146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6E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Retourne le Top-N films recommandés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22960" y="3246120"/>
            <a:ext cx="777240" cy="329184"/>
          </a:xfrm>
          <a:prstGeom prst="roundRect">
            <a:avLst>
              <a:gd name="adj" fmla="val 16667"/>
            </a:avLst>
          </a:prstGeom>
          <a:solidFill>
            <a:srgbClr val="1F7A5C"/>
          </a:solidFill>
        </p:spPr>
      </p:sp>
      <p:sp>
        <p:nvSpPr>
          <p:cNvPr id="15" name="Text 13"/>
          <p:cNvSpPr/>
          <p:nvPr/>
        </p:nvSpPr>
        <p:spPr>
          <a:xfrm>
            <a:off x="822960" y="3246120"/>
            <a:ext cx="77724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737360" y="3246120"/>
            <a:ext cx="155448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63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/metrics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37560" y="3246120"/>
            <a:ext cx="25146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6E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Expose les métriques (format Prometheus)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2960" y="3886200"/>
            <a:ext cx="45720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Exemple de requête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22960" y="4206240"/>
            <a:ext cx="4937760" cy="1691640"/>
          </a:xfrm>
          <a:prstGeom prst="roundRect">
            <a:avLst>
              <a:gd name="adj" fmla="val 3243"/>
            </a:avLst>
          </a:prstGeom>
          <a:solidFill>
            <a:srgbClr val="14163B"/>
          </a:solidFill>
        </p:spPr>
      </p:sp>
      <p:sp>
        <p:nvSpPr>
          <p:cNvPr id="20" name="Text 18"/>
          <p:cNvSpPr/>
          <p:nvPr/>
        </p:nvSpPr>
        <p:spPr>
          <a:xfrm>
            <a:off x="1005840" y="4343400"/>
            <a:ext cx="4572000" cy="1463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FD6F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curl -X POST http://localhost:8000/predict \
</a:t>
            </a:r>
            <a:r>
              <a:rPr lang="en-US" sz="1000" dirty="0">
                <a:solidFill>
                  <a:srgbClr val="CFD6F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-d '{"user_id": 1, "n": 5}'
</a:t>
            </a:r>
            <a:r>
              <a:rPr lang="en-US" sz="1000" dirty="0">
                <a:solidFill>
                  <a:srgbClr val="E3B23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→ {"movie_id": 144, "score": 0.51}, ...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309360" y="1600200"/>
            <a:ext cx="5330952" cy="4480560"/>
          </a:xfrm>
          <a:prstGeom prst="roundRect">
            <a:avLst>
              <a:gd name="adj" fmla="val 2041"/>
            </a:avLst>
          </a:prstGeom>
          <a:solidFill>
            <a:srgbClr val="14163B"/>
          </a:solidFill>
        </p:spPr>
      </p:sp>
      <p:sp>
        <p:nvSpPr>
          <p:cNvPr id="22" name="Text 20"/>
          <p:cNvSpPr/>
          <p:nvPr/>
        </p:nvSpPr>
        <p:spPr>
          <a:xfrm>
            <a:off x="6583680" y="1783080"/>
            <a:ext cx="4754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Interface Streamlit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583680" y="2240280"/>
            <a:ext cx="47548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CFD6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Consomme uniquement l'API Flask via POST /predict — aucune logique ML réimplémentée côté interface.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583680" y="2971800"/>
            <a:ext cx="365760" cy="365760"/>
          </a:xfrm>
          <a:prstGeom prst="ellipse">
            <a:avLst/>
          </a:prstGeom>
          <a:solidFill>
            <a:srgbClr val="E3B23C"/>
          </a:solidFill>
        </p:spPr>
      </p:sp>
      <p:sp>
        <p:nvSpPr>
          <p:cNvPr id="25" name="Text 23"/>
          <p:cNvSpPr/>
          <p:nvPr/>
        </p:nvSpPr>
        <p:spPr>
          <a:xfrm>
            <a:off x="6583680" y="297180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086600" y="2990088"/>
            <a:ext cx="42062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Sélectionner un utilisateur MovieLens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583680" y="3575304"/>
            <a:ext cx="365760" cy="365760"/>
          </a:xfrm>
          <a:prstGeom prst="ellipse">
            <a:avLst/>
          </a:prstGeom>
          <a:solidFill>
            <a:srgbClr val="E3B23C"/>
          </a:solidFill>
        </p:spPr>
      </p:sp>
      <p:sp>
        <p:nvSpPr>
          <p:cNvPr id="28" name="Text 26"/>
          <p:cNvSpPr/>
          <p:nvPr/>
        </p:nvSpPr>
        <p:spPr>
          <a:xfrm>
            <a:off x="6583680" y="3575304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086600" y="3593592"/>
            <a:ext cx="42062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Choisir le nombre de recommandations (1 à 50)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583680" y="4178808"/>
            <a:ext cx="365760" cy="365760"/>
          </a:xfrm>
          <a:prstGeom prst="ellipse">
            <a:avLst/>
          </a:prstGeom>
          <a:solidFill>
            <a:srgbClr val="E3B23C"/>
          </a:solidFill>
        </p:spPr>
      </p:sp>
      <p:sp>
        <p:nvSpPr>
          <p:cNvPr id="31" name="Text 29"/>
          <p:cNvSpPr/>
          <p:nvPr/>
        </p:nvSpPr>
        <p:spPr>
          <a:xfrm>
            <a:off x="6583680" y="4178808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086600" y="4197096"/>
            <a:ext cx="42062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Cliquer sur « Obtenir des recommandations »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583680" y="4782312"/>
            <a:ext cx="365760" cy="365760"/>
          </a:xfrm>
          <a:prstGeom prst="ellipse">
            <a:avLst/>
          </a:prstGeom>
          <a:solidFill>
            <a:srgbClr val="E3B23C"/>
          </a:solidFill>
        </p:spPr>
      </p:sp>
      <p:sp>
        <p:nvSpPr>
          <p:cNvPr id="34" name="Text 32"/>
          <p:cNvSpPr/>
          <p:nvPr/>
        </p:nvSpPr>
        <p:spPr>
          <a:xfrm>
            <a:off x="6583680" y="4782312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086600" y="4800600"/>
            <a:ext cx="42062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Les films s'affichent avec leur score de similarité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A6E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3B2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INFRASTRUCTURE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91B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Docker Compose : tout en une commande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53796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83080"/>
            <a:ext cx="5943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Services Docker Compose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192024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163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pipeline-init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788920" y="2286000"/>
            <a:ext cx="82296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979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—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0" y="2286000"/>
            <a:ext cx="310896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A6E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Amorçage : dlt + dbt + train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2624328"/>
            <a:ext cx="6263640" cy="365760"/>
          </a:xfrm>
          <a:prstGeom prst="rect">
            <a:avLst/>
          </a:prstGeom>
          <a:solidFill>
            <a:srgbClr val="EEF0FA"/>
          </a:solidFill>
        </p:spPr>
      </p:sp>
      <p:sp>
        <p:nvSpPr>
          <p:cNvPr id="10" name="Text 8"/>
          <p:cNvSpPr/>
          <p:nvPr/>
        </p:nvSpPr>
        <p:spPr>
          <a:xfrm>
            <a:off x="822960" y="2651760"/>
            <a:ext cx="192024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163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mlflow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788920" y="2651760"/>
            <a:ext cx="82296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979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5000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0" y="2651760"/>
            <a:ext cx="310896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A6E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Tracking MLflow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3017520"/>
            <a:ext cx="192024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163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dagster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788920" y="3017520"/>
            <a:ext cx="82296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979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3000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0" y="3017520"/>
            <a:ext cx="310896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A6E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Orchestration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" y="3355848"/>
            <a:ext cx="6263640" cy="365760"/>
          </a:xfrm>
          <a:prstGeom prst="rect">
            <a:avLst/>
          </a:prstGeom>
          <a:solidFill>
            <a:srgbClr val="EEF0FA"/>
          </a:solidFill>
        </p:spPr>
      </p:sp>
      <p:sp>
        <p:nvSpPr>
          <p:cNvPr id="17" name="Text 15"/>
          <p:cNvSpPr/>
          <p:nvPr/>
        </p:nvSpPr>
        <p:spPr>
          <a:xfrm>
            <a:off x="822960" y="3383280"/>
            <a:ext cx="192024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163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api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788920" y="3383280"/>
            <a:ext cx="82296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979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8000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0" y="3383280"/>
            <a:ext cx="310896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A6E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Inférence Flask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" y="3749040"/>
            <a:ext cx="192024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163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streamlit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788920" y="3749040"/>
            <a:ext cx="82296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979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8501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0" y="3749040"/>
            <a:ext cx="310896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A6E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Interface utilisateur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85800" y="4087368"/>
            <a:ext cx="6263640" cy="365760"/>
          </a:xfrm>
          <a:prstGeom prst="rect">
            <a:avLst/>
          </a:prstGeom>
          <a:solidFill>
            <a:srgbClr val="EEF0FA"/>
          </a:solidFill>
        </p:spPr>
      </p:sp>
      <p:sp>
        <p:nvSpPr>
          <p:cNvPr id="24" name="Text 22"/>
          <p:cNvSpPr/>
          <p:nvPr/>
        </p:nvSpPr>
        <p:spPr>
          <a:xfrm>
            <a:off x="822960" y="4114800"/>
            <a:ext cx="192024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163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prometheus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2788920" y="4114800"/>
            <a:ext cx="82296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979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9090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7600" y="4114800"/>
            <a:ext cx="310896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A6E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Collecte de métriques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2960" y="4480560"/>
            <a:ext cx="192024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163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grafana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2788920" y="4480560"/>
            <a:ext cx="82296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979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3001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57600" y="4480560"/>
            <a:ext cx="310896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A6E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Tableaux de bord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22960" y="4983480"/>
            <a:ext cx="5943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6A6E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pipeline-init se termine (exit 0) avant que l'API ne démarre — condition: service_completed_successfully.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315200" y="1600200"/>
            <a:ext cx="4325112" cy="4480560"/>
          </a:xfrm>
          <a:prstGeom prst="roundRect">
            <a:avLst>
              <a:gd name="adj" fmla="val 2114"/>
            </a:avLst>
          </a:prstGeom>
          <a:solidFill>
            <a:srgbClr val="14163B"/>
          </a:solidFill>
        </p:spPr>
      </p:sp>
      <p:sp>
        <p:nvSpPr>
          <p:cNvPr id="32" name="Text 30"/>
          <p:cNvSpPr/>
          <p:nvPr/>
        </p:nvSpPr>
        <p:spPr>
          <a:xfrm>
            <a:off x="7589520" y="1783080"/>
            <a:ext cx="3749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3B2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CI/CD — GitHub Actions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589520" y="2331720"/>
            <a:ext cx="3749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FD6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Installation des dépendances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7589520" y="2715768"/>
            <a:ext cx="3749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FD6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Lint (ruff)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7589520" y="3099816"/>
            <a:ext cx="3749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FD6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Ingestion dlt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7589520" y="3483864"/>
            <a:ext cx="3749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FD6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dbt build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7589520" y="3867912"/>
            <a:ext cx="3749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FD6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Entraînement du modèle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7589520" y="4251960"/>
            <a:ext cx="3749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FD6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Tests pytest de l'API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7589520" y="4636008"/>
            <a:ext cx="3749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FD6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Build des images Docker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7589520" y="5020056"/>
            <a:ext cx="3749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FD6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Vérification docker compose up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7589520" y="5541264"/>
            <a:ext cx="37490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6A6E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Aucun déploiement automatique — le projet reste volontairement local, conformément aux consignes académiques.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A6E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3B2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OBSERVABILITÉ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91B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Prometheus &amp; Grafana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515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91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Prometheus scrape /metrics de l'API Flask toutes les 15 secondes. Grafana affiche un dashboard provisionné automatiquement.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120640" cy="1371600"/>
          </a:xfrm>
          <a:prstGeom prst="roundRect">
            <a:avLst>
              <a:gd name="adj" fmla="val 6667"/>
            </a:avLst>
          </a:prstGeom>
          <a:solidFill>
            <a:srgbClr val="1E2260"/>
          </a:solidFill>
        </p:spPr>
      </p:sp>
      <p:sp>
        <p:nvSpPr>
          <p:cNvPr id="6" name="Text 4"/>
          <p:cNvSpPr/>
          <p:nvPr/>
        </p:nvSpPr>
        <p:spPr>
          <a:xfrm>
            <a:off x="822960" y="2514600"/>
            <a:ext cx="4572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3B23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predict_requests_total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22960" y="3017520"/>
            <a:ext cx="45720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Taux de requêtes /predict, par code de statut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943600" y="2331720"/>
            <a:ext cx="5120640" cy="1371600"/>
          </a:xfrm>
          <a:prstGeom prst="roundRect">
            <a:avLst>
              <a:gd name="adj" fmla="val 6667"/>
            </a:avLst>
          </a:prstGeom>
          <a:solidFill>
            <a:srgbClr val="3B4590"/>
          </a:solidFill>
        </p:spPr>
      </p:sp>
      <p:sp>
        <p:nvSpPr>
          <p:cNvPr id="9" name="Text 7"/>
          <p:cNvSpPr/>
          <p:nvPr/>
        </p:nvSpPr>
        <p:spPr>
          <a:xfrm>
            <a:off x="6217920" y="2514600"/>
            <a:ext cx="4572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3B23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predict_latency_seconds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217920" y="3017520"/>
            <a:ext cx="45720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Latence p95 de /predict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931920"/>
            <a:ext cx="5120640" cy="1371600"/>
          </a:xfrm>
          <a:prstGeom prst="roundRect">
            <a:avLst>
              <a:gd name="adj" fmla="val 6667"/>
            </a:avLst>
          </a:prstGeom>
          <a:solidFill>
            <a:srgbClr val="1E2260"/>
          </a:solidFill>
        </p:spPr>
      </p:sp>
      <p:sp>
        <p:nvSpPr>
          <p:cNvPr id="12" name="Text 10"/>
          <p:cNvSpPr/>
          <p:nvPr/>
        </p:nvSpPr>
        <p:spPr>
          <a:xfrm>
            <a:off x="822960" y="4114800"/>
            <a:ext cx="4572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3B23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model_loaded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22960" y="4617720"/>
            <a:ext cx="45720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Disponibilité du service et du modèle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943600" y="3931920"/>
            <a:ext cx="5120640" cy="1371600"/>
          </a:xfrm>
          <a:prstGeom prst="roundRect">
            <a:avLst>
              <a:gd name="adj" fmla="val 6667"/>
            </a:avLst>
          </a:prstGeom>
          <a:solidFill>
            <a:srgbClr val="3B4590"/>
          </a:solidFill>
        </p:spPr>
      </p:sp>
      <p:sp>
        <p:nvSpPr>
          <p:cNvPr id="15" name="Text 13"/>
          <p:cNvSpPr/>
          <p:nvPr/>
        </p:nvSpPr>
        <p:spPr>
          <a:xfrm>
            <a:off x="6217920" y="4114800"/>
            <a:ext cx="4572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3B23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model_rmse / model_precision_at_10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217920" y="4617720"/>
            <a:ext cx="45720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Qualité du dernier modèle entraîné (depuis metrics.json)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A6E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3B2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RETOUR D'EXPÉRIENCE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91B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Bugs rencontrés &amp; correctifs clés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12064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46504"/>
            <a:ext cx="4663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2343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DBT_DUCKDB_PATH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103120"/>
            <a:ext cx="4663440" cy="12344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41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Problème : </a:t>
            </a:r>
            <a:r>
              <a:rPr lang="en-US" sz="1050" dirty="0">
                <a:solidFill>
                  <a:srgbClr val="191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Chemin relatif résolu différemment selon le service (Dagster, pipeline-init, CI) → désynchronisation silencieuse.
</a:t>
            </a:r>
            <a:r>
              <a:rPr lang="en-US" sz="1050" b="1" dirty="0">
                <a:solidFill>
                  <a:srgbClr val="1F7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Correctif : </a:t>
            </a:r>
            <a:r>
              <a:rPr lang="en-US" sz="1050" dirty="0">
                <a:solidFill>
                  <a:srgbClr val="191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Chemin absolu injecté via env_var() dans chaque service.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943600" y="1600200"/>
            <a:ext cx="512064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72200" y="1746504"/>
            <a:ext cx="4663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2343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MLflow — URI SQLite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172200" y="2103120"/>
            <a:ext cx="4663440" cy="12344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41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Problème : </a:t>
            </a:r>
            <a:r>
              <a:rPr lang="en-US" sz="1050" dirty="0">
                <a:solidFill>
                  <a:srgbClr val="191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sqlite:/// (3 slashes) ne pointait pas vers le bon chemin absolu dans le conteneur.
</a:t>
            </a:r>
            <a:r>
              <a:rPr lang="en-US" sz="1050" b="1" dirty="0">
                <a:solidFill>
                  <a:srgbClr val="1F7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Correctif : </a:t>
            </a:r>
            <a:r>
              <a:rPr lang="en-US" sz="1050" dirty="0">
                <a:solidFill>
                  <a:srgbClr val="191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URI corrigée à 4 slashes : sqlite:////mlflow/data/mlflow.db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3703320"/>
            <a:ext cx="512064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849624"/>
            <a:ext cx="4663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2343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model_loader.py — PROJECT_ROOT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4206240"/>
            <a:ext cx="4663440" cy="12344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41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Problème : </a:t>
            </a:r>
            <a:r>
              <a:rPr lang="en-US" sz="1050" dirty="0">
                <a:solidFill>
                  <a:srgbClr val="191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Résolution du chemin différente en local vs en conteneur.
</a:t>
            </a:r>
            <a:r>
              <a:rPr lang="en-US" sz="1050" b="1" dirty="0">
                <a:solidFill>
                  <a:srgbClr val="1F7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Correctif : </a:t>
            </a:r>
            <a:r>
              <a:rPr lang="en-US" sz="1050" dirty="0">
                <a:solidFill>
                  <a:srgbClr val="191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Variable d'environnement PROJECT_ROOT=/app dans le Dockerfile.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943600" y="3703320"/>
            <a:ext cx="512064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3849624"/>
            <a:ext cx="4663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2343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DuckDB — schéma non-default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72200" y="4206240"/>
            <a:ext cx="4663440" cy="12344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41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Problème : </a:t>
            </a:r>
            <a:r>
              <a:rPr lang="en-US" sz="1050" dirty="0">
                <a:solidFill>
                  <a:srgbClr val="191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SHOW TABLES retournait une liste vide (tables dans movielens.marts, pas main).
</a:t>
            </a:r>
            <a:r>
              <a:rPr lang="en-US" sz="1050" b="1" dirty="0">
                <a:solidFill>
                  <a:srgbClr val="1F7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Correctif : </a:t>
            </a:r>
            <a:r>
              <a:rPr lang="en-US" sz="1050" dirty="0">
                <a:solidFill>
                  <a:srgbClr val="191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Requêtes avec chemin complet : movielens.marts.dim_users, etc.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A6E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3B2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RÉSULTATS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91B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Un système end-to-end fonctionnel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337560" cy="1737360"/>
          </a:xfrm>
          <a:prstGeom prst="roundRect">
            <a:avLst>
              <a:gd name="adj" fmla="val 5263"/>
            </a:avLst>
          </a:prstGeom>
          <a:solidFill>
            <a:srgbClr val="14163B"/>
          </a:solidFill>
        </p:spPr>
      </p:sp>
      <p:sp>
        <p:nvSpPr>
          <p:cNvPr id="5" name="Text 3"/>
          <p:cNvSpPr/>
          <p:nvPr/>
        </p:nvSpPr>
        <p:spPr>
          <a:xfrm>
            <a:off x="548640" y="1737360"/>
            <a:ext cx="333756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3B2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1.3840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2395728"/>
            <a:ext cx="3337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RMSE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724912"/>
            <a:ext cx="29718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FD6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Erreur quadratique moyenne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0" y="1600200"/>
            <a:ext cx="3337560" cy="1737360"/>
          </a:xfrm>
          <a:prstGeom prst="roundRect">
            <a:avLst>
              <a:gd name="adj" fmla="val 5263"/>
            </a:avLst>
          </a:prstGeom>
          <a:solidFill>
            <a:srgbClr val="14163B"/>
          </a:solidFill>
        </p:spPr>
      </p:sp>
      <p:sp>
        <p:nvSpPr>
          <p:cNvPr id="9" name="Text 7"/>
          <p:cNvSpPr/>
          <p:nvPr/>
        </p:nvSpPr>
        <p:spPr>
          <a:xfrm>
            <a:off x="4114800" y="1737360"/>
            <a:ext cx="333756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3B2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0.9702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114800" y="2395728"/>
            <a:ext cx="3337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297680" y="2724912"/>
            <a:ext cx="29718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FD6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Erreur absolue moyenne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680960" y="1600200"/>
            <a:ext cx="3337560" cy="1737360"/>
          </a:xfrm>
          <a:prstGeom prst="roundRect">
            <a:avLst>
              <a:gd name="adj" fmla="val 5263"/>
            </a:avLst>
          </a:prstGeom>
          <a:solidFill>
            <a:srgbClr val="14163B"/>
          </a:solidFill>
        </p:spPr>
      </p:sp>
      <p:sp>
        <p:nvSpPr>
          <p:cNvPr id="13" name="Text 11"/>
          <p:cNvSpPr/>
          <p:nvPr/>
        </p:nvSpPr>
        <p:spPr>
          <a:xfrm>
            <a:off x="7680960" y="1737360"/>
            <a:ext cx="333756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3B2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0.0202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7680960" y="2395728"/>
            <a:ext cx="3337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Precision@10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863840" y="2724912"/>
            <a:ext cx="29718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FD6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Films pertinents dans le Top-10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3520440"/>
            <a:ext cx="10515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A6E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Modèle KNN item-based (k = 10) — dataset MovieLens 100K réel, pipeline-init run #1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402336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Exemple de recommandations — utilisateur 5 (Top-5)</a:t>
            </a:r>
            <a:endParaRPr lang="en-US" sz="13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/>
        </p:nvGraphicFramePr>
        <p:xfrm>
          <a:off x="548640" y="4434840"/>
          <a:ext cx="7315200" cy="1920240"/>
        </p:xfrm>
        <a:graphic>
          <a:graphicData uri="http://schemas.openxmlformats.org/drawingml/2006/table">
            <a:tbl>
              <a:tblPr/>
              <a:tblGrid>
                <a:gridCol w="1097280"/>
                <a:gridCol w="4937760"/>
                <a:gridCol w="1280160"/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Rang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6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Film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6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Score KNN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63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91B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91B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Raiders of the Lost Ark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A9791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8.079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91B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91B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Back to the Future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A9791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6.854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91B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91B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Twelve Monkeys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A9791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3.098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91B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4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91B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Star Trek : The Wrath of Khan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A9791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2.786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91B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91B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Brazil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A9791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2.703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8183880" y="4023360"/>
            <a:ext cx="3456432" cy="2468880"/>
          </a:xfrm>
          <a:prstGeom prst="roundRect">
            <a:avLst>
              <a:gd name="adj" fmla="val 3704"/>
            </a:avLst>
          </a:prstGeom>
          <a:solidFill>
            <a:srgbClr val="EAF4EE"/>
          </a:solidFill>
          <a:ln w="12700">
            <a:solidFill>
              <a:srgbClr val="C9E5D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412480" y="4160520"/>
            <a:ext cx="30175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7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État final du système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412480" y="4526280"/>
            <a:ext cx="3017520" cy="1920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52400" indent="-152400">
              <a:spcAft>
                <a:spcPts val="500"/>
              </a:spcAft>
              <a:buSzPct val="100000"/>
              <a:buChar char="✓"/>
            </a:pPr>
            <a:r>
              <a:rPr lang="en-US" sz="1000" dirty="0">
                <a:solidFill>
                  <a:srgbClr val="1E3A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pipeline-init : exit code 0</a:t>
            </a:r>
            <a:endParaRPr lang="en-US" sz="1000" dirty="0"/>
          </a:p>
          <a:p>
            <a:pPr marL="152400" indent="-152400">
              <a:spcAft>
                <a:spcPts val="500"/>
              </a:spcAft>
              <a:buSzPct val="100000"/>
              <a:buChar char="✓"/>
            </a:pPr>
            <a:r>
              <a:rPr lang="en-US" sz="1000" dirty="0">
                <a:solidFill>
                  <a:srgbClr val="1E3A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DuckDB : 11 MB, tables complètes</a:t>
            </a:r>
            <a:endParaRPr lang="en-US" sz="1000" dirty="0"/>
          </a:p>
          <a:p>
            <a:pPr marL="152400" indent="-152400">
              <a:spcAft>
                <a:spcPts val="500"/>
              </a:spcAft>
              <a:buSzPct val="100000"/>
              <a:buChar char="✓"/>
            </a:pPr>
            <a:r>
              <a:rPr lang="en-US" sz="1000" dirty="0">
                <a:solidFill>
                  <a:srgbClr val="1E3A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MLflow : modèle v1 enregistré</a:t>
            </a:r>
            <a:endParaRPr lang="en-US" sz="1000" dirty="0"/>
          </a:p>
          <a:p>
            <a:pPr marL="152400" indent="-152400">
              <a:spcAft>
                <a:spcPts val="500"/>
              </a:spcAft>
              <a:buSzPct val="100000"/>
              <a:buChar char="✓"/>
            </a:pPr>
            <a:r>
              <a:rPr lang="en-US" sz="1000" dirty="0">
                <a:solidFill>
                  <a:srgbClr val="1E3A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API : /health /predict /metrics OK</a:t>
            </a:r>
            <a:endParaRPr lang="en-US" sz="1000" dirty="0"/>
          </a:p>
          <a:p>
            <a:pPr marL="152400" indent="-152400">
              <a:spcAft>
                <a:spcPts val="500"/>
              </a:spcAft>
              <a:buSzPct val="100000"/>
              <a:buChar char="✓"/>
            </a:pPr>
            <a:r>
              <a:rPr lang="en-US" sz="1000" dirty="0">
                <a:solidFill>
                  <a:srgbClr val="1E3A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Streamlit : recommandations affichées</a:t>
            </a:r>
            <a:endParaRPr lang="en-US" sz="1000" dirty="0"/>
          </a:p>
          <a:p>
            <a:pPr marL="152400" indent="-152400">
              <a:spcAft>
                <a:spcPts val="500"/>
              </a:spcAft>
              <a:buSzPct val="100000"/>
              <a:buChar char="✓"/>
            </a:pPr>
            <a:r>
              <a:rPr lang="en-US" sz="1000" dirty="0">
                <a:solidFill>
                  <a:srgbClr val="1E3A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Prometheus/Grafana : métriques collectées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A6E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3657600" cy="3657600"/>
          </a:xfrm>
          <a:prstGeom prst="ellipse">
            <a:avLst/>
          </a:prstGeom>
          <a:solidFill>
            <a:srgbClr val="1E2260"/>
          </a:solidFill>
        </p:spPr>
      </p:sp>
      <p:sp>
        <p:nvSpPr>
          <p:cNvPr id="3" name="Shape 1"/>
          <p:cNvSpPr/>
          <p:nvPr/>
        </p:nvSpPr>
        <p:spPr>
          <a:xfrm>
            <a:off x="10241280" y="5029200"/>
            <a:ext cx="3291840" cy="3291840"/>
          </a:xfrm>
          <a:prstGeom prst="ellipse">
            <a:avLst/>
          </a:prstGeom>
          <a:solidFill>
            <a:srgbClr val="1E2260"/>
          </a:solidFill>
        </p:spPr>
      </p:sp>
      <p:sp>
        <p:nvSpPr>
          <p:cNvPr id="4" name="Text 2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3B2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0515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Une plateforme complète, déployée en une commande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5120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3B2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Principaux apports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194560"/>
            <a:ext cx="5212080" cy="20116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FD6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Intégration cohérente et reproductible de multiples outils DataOps/MLOps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FD6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Résolution de bugs subtils liés aux chemins absolus/relatifs multi-conteneurs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FD6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Organisation Agile Scrum livrant un incrément fonctionnel à chaque sprint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309360" y="1828800"/>
            <a:ext cx="5120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3B2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Pistes d'amélioration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09360" y="2194560"/>
            <a:ext cx="5212080" cy="20116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FD6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Modèles matriciels complémentaires (SVD, ALS)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FD6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Pipeline de ré-entraînement continu déclenché par la dérive du modèle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FD6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Extension de la couverture de tests d'intégration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480560"/>
            <a:ext cx="457200" cy="54864"/>
          </a:xfrm>
          <a:prstGeom prst="rect">
            <a:avLst/>
          </a:prstGeom>
          <a:solidFill>
            <a:srgbClr val="E3B23C"/>
          </a:solidFill>
        </p:spPr>
      </p:sp>
      <p:sp>
        <p:nvSpPr>
          <p:cNvPr id="11" name="Text 9"/>
          <p:cNvSpPr/>
          <p:nvPr/>
        </p:nvSpPr>
        <p:spPr>
          <a:xfrm>
            <a:off x="548640" y="4709160"/>
            <a:ext cx="73152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docker compose up --build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48640" y="5257800"/>
            <a:ext cx="8686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A6E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 l'ingestion des données brutes à la mise en production d'un système de recommandation de films.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3657600" cy="3657600"/>
          </a:xfrm>
          <a:prstGeom prst="ellipse">
            <a:avLst/>
          </a:prstGeom>
          <a:solidFill>
            <a:srgbClr val="1E2260"/>
          </a:solidFill>
        </p:spPr>
      </p:sp>
      <p:sp>
        <p:nvSpPr>
          <p:cNvPr id="3" name="Shape 1"/>
          <p:cNvSpPr/>
          <p:nvPr/>
        </p:nvSpPr>
        <p:spPr>
          <a:xfrm>
            <a:off x="10241280" y="5029200"/>
            <a:ext cx="3291840" cy="3291840"/>
          </a:xfrm>
          <a:prstGeom prst="ellipse">
            <a:avLst/>
          </a:prstGeom>
          <a:solidFill>
            <a:srgbClr val="1E2260"/>
          </a:solidFill>
        </p:spPr>
      </p:sp>
      <p:sp>
        <p:nvSpPr>
          <p:cNvPr id="13" name="Text 3"/>
          <p:cNvSpPr/>
          <p:nvPr/>
        </p:nvSpPr>
        <p:spPr>
          <a:xfrm>
            <a:off x="4751070" y="3017520"/>
            <a:ext cx="2690495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MERCI</a:t>
            </a:r>
            <a:endParaRPr lang="en-US" sz="6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7841</Words>
  <Application>WPS Presentation</Application>
  <PresentationFormat>On-screen Show (16:9)</PresentationFormat>
  <Paragraphs>535</Paragraphs>
  <Slides>13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29" baseType="lpstr">
      <vt:lpstr>Arial</vt:lpstr>
      <vt:lpstr>SimSun</vt:lpstr>
      <vt:lpstr>Wingdings</vt:lpstr>
      <vt:lpstr>Calibri</vt:lpstr>
      <vt:lpstr>Calibri</vt:lpstr>
      <vt:lpstr>Calibri</vt:lpstr>
      <vt:lpstr>Cambria</vt:lpstr>
      <vt:lpstr>Cambria</vt:lpstr>
      <vt:lpstr>Cambria</vt:lpstr>
      <vt:lpstr>Courier New</vt:lpstr>
      <vt:lpstr>Courier New</vt:lpstr>
      <vt:lpstr>Courier New</vt:lpstr>
      <vt:lpstr>Microsoft YaHei</vt:lpstr>
      <vt:lpstr>Arial Unicode MS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noha ichou</cp:lastModifiedBy>
  <cp:revision>3</cp:revision>
  <dcterms:created xsi:type="dcterms:W3CDTF">2026-07-11T22:06:00Z</dcterms:created>
  <dcterms:modified xsi:type="dcterms:W3CDTF">2026-07-11T22:15:46Z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098BF93A7A0E491AB08F222A95943208_12</vt:lpwstr>
  </property>
  <property fmtid="{D5CDD505-2E9C-101B-9397-08002B2CF9AE}" pid="3" name="KSOProductBuildVer">
    <vt:lpwstr>1033-12.1.0.26880</vt:lpwstr>
  </property>
</Properties>
</file>